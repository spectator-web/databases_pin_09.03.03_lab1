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8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oto Sans" panose="020B0502040504020204" pitchFamily="34" charset="0"/>
      <p:regular r:id="rId18"/>
      <p:bold r:id="rId19"/>
      <p:italic r:id="rId20"/>
      <p:boldItalic r:id="rId21"/>
    </p:embeddedFont>
    <p:embeddedFont>
      <p:font typeface="Noto Sans Bold" panose="020B0502040504020204" pitchFamily="34" charset="0"/>
      <p:regular r:id="rId22"/>
      <p:bold r:id="rId23"/>
      <p:italic r:id="rId24"/>
    </p:embeddedFont>
    <p:embeddedFont>
      <p:font typeface="Noto Sans SemiBold" panose="020B0502040504020204" pitchFamily="34" charset="0"/>
      <p:regular r:id="rId25"/>
      <p:bold r:id="rId26"/>
    </p:embeddedFont>
    <p:embeddedFont>
      <p:font typeface="Sofia Sans Extra Condensed Black" pitchFamily="2" charset="0"/>
      <p:regular r:id="rId25"/>
      <p:bold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8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38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Меня зовут [ФИО], и я представляю лабораторную работу по дисциплине «Проектирование и реализация баз данных». Тема — функциональная модель АИС LifePilot для учёта личных расходов и сравнения цен. Эта работа — первый этап проектирования базы данных: сначала разобраться, какие функции и данные есть в системе.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LifePilot — локальное приложение для одного пользователя: он сам вносит товары, магазины, цены, акции и покупки. Без такой системы данные разбросаны, нет единой истории цен, трудно понять выгоду акции, быстро посчитать расходы за период и сравнить цены по магазинам. Ограничения первой версии: локальный запуск, один пользователь, нет автосбора цен и интеграции с банками, данные хранятся в PostgreSQL. Решения о покупке всегда принимает сам пользователь.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спроектировать функциональную модель АИС LifePilot. Для этого поставлено шесть задач, и каждая соответствует одному этапу работы. Дальше по каждому этапу будет отдельный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 выполнена методом структурного анализа с помощью диаграмм потоков данных DFD в нотации Гейна–Сарсона. Диаграммы строились в CASE-средстве draw.io. Мы придерживались правил: процессы называются глаголами, у каждого накопителя есть и вход, и выход, а потоки сбалансированы между уровнями диаграмм.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первых трёх этапах определили назначение системы: учёт товаров, магазинов, цен, акций и покупок, сравнение цен и подсчёт трат за период. Основной процесс назвали «Управлять личными расходами и анализировать цены». Внешняя сущность одна — пользователь. Он передаёт данные о товарах, магазинах, ценах, акциях и покупках и отправляет запросы, а получает подтверждения, списки, историю цен, сравнение и отчёты.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контекстная диаграмма A-0: вся система показана одним процессом A0. Слева девять входных потоков от пользователя: данные товара, магазина, цен, акций и покупки, а также запросы истории, сравнения и отчёта. Справа пять выходных потоков: подтверждения и списки, история цен и сравнение, список акций, история покупок с суммой расходов и отчёты.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 событий связывает процессы с потоками. Для каждого из пяти процессов указаны входные и выходные потоки и используемые накопители. В полной матрице 18 событий, например «добавить товар», «сохранить цену», «сравнить акцию», «внести покупку» и «запросить сумму расходов». Она помогла проверить, что ни один поток не потерян.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Диаграмма A0 детализирует систему до пяти процессов: товары и магазины, цены, рекламные предложения, личные покупки, анализ и отчёты. Есть пять накопителей D1–D5, которые станут таблицами БД: products, stores, price_observations, promotions и purchases. Процессы с первого по четвёртый записывают данные, а пятый только читает их и строит отчёты.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достигнута. Построены диаграммы A-0 и A0, выделены один внешний объект, пять процессов, потоки данных и пять накопителей. Эта модель — основа для проектирования базы данных PostgreSQL на следующих этапах.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909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D3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D3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9393" y="279400"/>
            <a:ext cx="11632909" cy="6299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1D3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3983"/>
            <a:ext cx="115821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ИТМО · Факультет прикладной информатики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752183"/>
            <a:ext cx="10972526" cy="173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ФУНКЦИОНАЛЬНАЯ МОДЕЛЬ АИС «LIFEPILOT»: УЧЁТ ЛИЧНЫХ РАСХОДОВ И АНАЛИЗ ЦЕНОВЫХ ПРЕДЛОЖЕНИЙ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753148"/>
            <a:ext cx="10972526" cy="13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Дисциплина: Проектирование и реализация баз данных.</a:t>
            </a:r>
            <a:endParaRPr lang="en-US" sz="1800" dirty="0"/>
          </a:p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Выполнили: Насонов Николай Дмитриевич (К3241), Зоткин Никита Евгеньевич (К3240).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Преподаватель: Говорова Марина Михайловна.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560" y="381000"/>
            <a:ext cx="2193870" cy="6350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C27CC26-DA11-1083-7A72-82ED40583F57}"/>
              </a:ext>
            </a:extLst>
          </p:cNvPr>
          <p:cNvSpPr/>
          <p:nvPr/>
        </p:nvSpPr>
        <p:spPr>
          <a:xfrm>
            <a:off x="11071654" y="6561438"/>
            <a:ext cx="1120041" cy="29656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591" y="355600"/>
            <a:ext cx="11480513" cy="6146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742950"/>
            <a:ext cx="1076933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ПРЕДМЕТНАЯ ОБЛАСТЬ: ЛИЧНЫЕ ПОКУПКИ И ЦЕНЫ В ОДНОМ МЕСТЕ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1182" y="2277286"/>
            <a:ext cx="618732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Данные вносит пользователь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1182" y="2804219"/>
            <a:ext cx="618732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Товары, магазины, цены, акции и покупки сохраняются вручную.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1182" y="3700876"/>
            <a:ext cx="6187325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Единая история вместо разрозненных записей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1182" y="4578251"/>
            <a:ext cx="618732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Без системы сложно оценить выгоду акции, проследить цены и посчитать траты за период.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1182" y="5340072"/>
            <a:ext cx="618732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Система не собирает цены сама и не принимает решений за пользователя.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596" y="1930400"/>
            <a:ext cx="4124817" cy="4216400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3D35B18-9381-F709-CB0C-7A6F45D085B3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591" y="355600"/>
            <a:ext cx="11480513" cy="6146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692150"/>
            <a:ext cx="1071853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ЦЕЛЬ И ЗАДАЧИ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6582" y="1391957"/>
            <a:ext cx="1071853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Спроектировать функциональную модель АИС «LifePilot» (DFD)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6582" y="1976041"/>
            <a:ext cx="5206870" cy="1203920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65176" y="2204641"/>
            <a:ext cx="444489" cy="444500"/>
          </a:xfrm>
          <a:prstGeom prst="roundRect">
            <a:avLst>
              <a:gd name="adj" fmla="val 8571"/>
            </a:avLst>
          </a:prstGeom>
          <a:solidFill>
            <a:srgbClr val="1D3BE3"/>
          </a:solidFill>
          <a:ln/>
        </p:spPr>
      </p:sp>
      <p:sp>
        <p:nvSpPr>
          <p:cNvPr id="7" name="Text 5"/>
          <p:cNvSpPr/>
          <p:nvPr/>
        </p:nvSpPr>
        <p:spPr>
          <a:xfrm>
            <a:off x="1114695" y="2299891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62061" y="2274491"/>
            <a:ext cx="43813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Определить назначение ИС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48244" y="1976041"/>
            <a:ext cx="5206870" cy="1203920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6838" y="2204641"/>
            <a:ext cx="444489" cy="444500"/>
          </a:xfrm>
          <a:prstGeom prst="roundRect">
            <a:avLst>
              <a:gd name="adj" fmla="val 8571"/>
            </a:avLst>
          </a:prstGeom>
          <a:solidFill>
            <a:srgbClr val="1D3BE3"/>
          </a:solidFill>
          <a:ln/>
        </p:spPr>
      </p:sp>
      <p:sp>
        <p:nvSpPr>
          <p:cNvPr id="11" name="Text 9"/>
          <p:cNvSpPr/>
          <p:nvPr/>
        </p:nvSpPr>
        <p:spPr>
          <a:xfrm>
            <a:off x="6626357" y="2299891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3723" y="2274491"/>
            <a:ext cx="415279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Выделить основной процесс и внешние сущности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6582" y="3484662"/>
            <a:ext cx="5206870" cy="1204218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65176" y="3713262"/>
            <a:ext cx="444489" cy="444500"/>
          </a:xfrm>
          <a:prstGeom prst="roundRect">
            <a:avLst>
              <a:gd name="adj" fmla="val 8571"/>
            </a:avLst>
          </a:prstGeom>
          <a:solidFill>
            <a:srgbClr val="1D3BE3"/>
          </a:solidFill>
          <a:ln/>
        </p:spPr>
      </p:sp>
      <p:sp>
        <p:nvSpPr>
          <p:cNvPr id="15" name="Text 13"/>
          <p:cNvSpPr/>
          <p:nvPr/>
        </p:nvSpPr>
        <p:spPr>
          <a:xfrm>
            <a:off x="1114695" y="3808512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62061" y="3783112"/>
            <a:ext cx="43813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Выделить потоки данных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48244" y="3484662"/>
            <a:ext cx="5206870" cy="1204218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6838" y="3713262"/>
            <a:ext cx="444489" cy="444500"/>
          </a:xfrm>
          <a:prstGeom prst="roundRect">
            <a:avLst>
              <a:gd name="adj" fmla="val 8571"/>
            </a:avLst>
          </a:prstGeom>
          <a:solidFill>
            <a:srgbClr val="1D3BE3"/>
          </a:solidFill>
          <a:ln/>
        </p:spPr>
      </p:sp>
      <p:sp>
        <p:nvSpPr>
          <p:cNvPr id="19" name="Text 17"/>
          <p:cNvSpPr/>
          <p:nvPr/>
        </p:nvSpPr>
        <p:spPr>
          <a:xfrm>
            <a:off x="6626357" y="3808512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73723" y="3783112"/>
            <a:ext cx="415279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Построить контекстную диаграмму A-0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6582" y="4993580"/>
            <a:ext cx="5206870" cy="1204020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65176" y="5222180"/>
            <a:ext cx="444489" cy="444500"/>
          </a:xfrm>
          <a:prstGeom prst="roundRect">
            <a:avLst>
              <a:gd name="adj" fmla="val 8571"/>
            </a:avLst>
          </a:prstGeom>
          <a:solidFill>
            <a:srgbClr val="1D3BE3"/>
          </a:solidFill>
          <a:ln/>
        </p:spPr>
      </p:sp>
      <p:sp>
        <p:nvSpPr>
          <p:cNvPr id="23" name="Text 21"/>
          <p:cNvSpPr/>
          <p:nvPr/>
        </p:nvSpPr>
        <p:spPr>
          <a:xfrm>
            <a:off x="1114695" y="5317430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62061" y="5292030"/>
            <a:ext cx="415279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Составить матрицу списка событий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48244" y="4993580"/>
            <a:ext cx="5206870" cy="1204020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6838" y="5222180"/>
            <a:ext cx="444489" cy="444500"/>
          </a:xfrm>
          <a:prstGeom prst="roundRect">
            <a:avLst>
              <a:gd name="adj" fmla="val 8571"/>
            </a:avLst>
          </a:prstGeom>
          <a:solidFill>
            <a:srgbClr val="1D3BE3"/>
          </a:solidFill>
          <a:ln/>
        </p:spPr>
      </p:sp>
      <p:sp>
        <p:nvSpPr>
          <p:cNvPr id="27" name="Text 25"/>
          <p:cNvSpPr/>
          <p:nvPr/>
        </p:nvSpPr>
        <p:spPr>
          <a:xfrm>
            <a:off x="6626357" y="5317430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73723" y="5292030"/>
            <a:ext cx="43813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Построить диаграмму A0</a:t>
            </a:r>
            <a:endParaRPr lang="en-US" sz="20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8750F44-E9DE-D5EB-9328-8F6BBD37BD0B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591" y="355600"/>
            <a:ext cx="11480513" cy="6146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768350"/>
            <a:ext cx="1071853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МЕТОДЫ И СРЕДСТВА ВЫПОЛНЕНИЯ ПРОЕКТА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6582" y="1683908"/>
            <a:ext cx="53592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МЕТОДОЛОГИЯ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6582" y="2125127"/>
            <a:ext cx="5130672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СТРУКТУРНЫЙ</a:t>
            </a:r>
            <a:endParaRPr lang="en-US" sz="56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56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АНАЛИЗ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6582" y="3697585"/>
            <a:ext cx="535926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Диаграммы потоков данных (DFD)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24442" y="1683908"/>
            <a:ext cx="51306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CASE-СРЕДСТВО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24442" y="2125127"/>
            <a:ext cx="5130672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DRAW.IO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324442" y="3022005"/>
            <a:ext cx="51306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Построение контекстной диаграммы и её декомпозиции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6582" y="4489566"/>
            <a:ext cx="1071853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Правила построения модели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6582" y="5003800"/>
            <a:ext cx="10718532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Процессы названы глаголами.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 каждого накопителя есть вход и выход.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Потоки сбалансированы между уровнями.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89498" y="1673324"/>
            <a:ext cx="12700" cy="2341761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FFA9363-AF2B-FB8B-3370-32F011E108F9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591" y="355600"/>
            <a:ext cx="11480513" cy="6146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768350"/>
            <a:ext cx="1071853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ЭТАПЫ 1–3. НАЗНАЧЕНИЕ, СУЩНОСТИ И ПОТОКИ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6582" y="1485900"/>
            <a:ext cx="1071853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 учитывает товары, магазины, цены, акции и покупки, сравнивает цены и подсчитывает траты за период.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582" y="2768005"/>
            <a:ext cx="3032644" cy="2388791"/>
          </a:xfrm>
          <a:prstGeom prst="roundRect">
            <a:avLst>
              <a:gd name="adj" fmla="val 159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3007188"/>
            <a:ext cx="2804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ВХОД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5176" y="3423362"/>
            <a:ext cx="257545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Пользователь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5176" y="3950295"/>
            <a:ext cx="257545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Передаёт данные и запросы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073919" y="2768005"/>
            <a:ext cx="4043757" cy="2388791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0" name="Text 8"/>
          <p:cNvSpPr/>
          <p:nvPr/>
        </p:nvSpPr>
        <p:spPr>
          <a:xfrm>
            <a:off x="4302513" y="3007188"/>
            <a:ext cx="38151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ОСНОВНОЙ ПРОЦЕСС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02513" y="3423362"/>
            <a:ext cx="3586569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«Управлять личными расходами и анализировать цены»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422370" y="2768005"/>
            <a:ext cx="3032644" cy="2388791"/>
          </a:xfrm>
          <a:prstGeom prst="roundRect">
            <a:avLst>
              <a:gd name="adj" fmla="val 159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50964" y="3007188"/>
            <a:ext cx="2804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ВЫХОД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50964" y="3423362"/>
            <a:ext cx="257545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Результаты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50964" y="3950295"/>
            <a:ext cx="2575456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Подтверждения, история, сравнения и отчёты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6582" y="5803900"/>
            <a:ext cx="110995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Одна внешняя сущность: пользователь</a:t>
            </a:r>
            <a:endParaRPr lang="en-US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0E02BFD-C911-1CEF-A7FC-4EA3C5F6078B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25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79393" y="311150"/>
            <a:ext cx="11632909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ЭТАП 4. КОНТЕКСТНАЯ ДИАГРАММА A-0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9393" y="1028700"/>
            <a:ext cx="1191230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Единственная внешняя сущность — пользователь; 9 входных и 5 выходных потоков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2082701"/>
            <a:ext cx="12191695" cy="477529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3" y="2362101"/>
            <a:ext cx="11632909" cy="4216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90550"/>
            <a:ext cx="110741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ЭТАП 5. МАТРИЦА СПИСКА СОБЫТИЙ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58786" y="1311593"/>
            <a:ext cx="1135351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Каждому из пяти процессов сопоставлены входные и выходные потоки.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1821160"/>
          <a:ext cx="11175526" cy="4596985"/>
        </p:xfrm>
        <a:graphic>
          <a:graphicData uri="http://schemas.openxmlformats.org/drawingml/2006/table">
            <a:tbl>
              <a:tblPr/>
              <a:tblGrid>
                <a:gridCol w="2970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3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3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3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93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93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Процесс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D3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Входные потоки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D3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Выходные потоки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D3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D3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 Вести товары и магазины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данные товара, данные магазина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подтверждение, обновлённые списки; данные → D1, D2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 Вести цены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данные цены, запрос истории цен; D1, D2, D3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история цен, результаты сравнения; цены → D3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 Вести рекламные предложения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данные акции, запрос сравнения; D1, D2, D3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список акций, сравнение с аналогами; акции → D4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 Вести личные покупки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данные покупки, запрос истории покупок; D1, D2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история покупок и сумма расходов за период; покупки → D5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6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 Анализировать данные и формировать отчёты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запрос отчёта; D1–D5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отчёты и аналитические данные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1EC25C-19E1-1133-78EE-83F16AA98248}"/>
              </a:ext>
            </a:extLst>
          </p:cNvPr>
          <p:cNvSpPr/>
          <p:nvPr/>
        </p:nvSpPr>
        <p:spPr>
          <a:xfrm>
            <a:off x="0" y="6573795"/>
            <a:ext cx="12192000" cy="2842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796" y="198157"/>
            <a:ext cx="1183610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Этап 6. Диаграмма A0: пять процессов и пять хранилищ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77796" y="728583"/>
            <a:ext cx="1183610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Процессы 1–4 ведут справочники и журналы, процесс 5 читает данные и строит отчёты; D1 Товары, D2 Магазины, D3 Ценовые наблюдения, D4 Рекламные предложения, D5 Покупки.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96" y="1306711"/>
            <a:ext cx="11836104" cy="5373489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F739D8A-9F07-C08E-9EA5-D15C69E92C4A}"/>
              </a:ext>
            </a:extLst>
          </p:cNvPr>
          <p:cNvSpPr/>
          <p:nvPr/>
        </p:nvSpPr>
        <p:spPr>
          <a:xfrm>
            <a:off x="0" y="6549081"/>
            <a:ext cx="12192000" cy="3089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F03021-5E67-71DA-C845-CC55303E8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377"/>
            <a:ext cx="9776298" cy="503508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0F02F4-A1A5-9234-810C-6B4A42A1D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64" y="5629612"/>
            <a:ext cx="3886200" cy="812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B242DC-0147-8936-6BDC-EEBA86464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764" y="5426412"/>
            <a:ext cx="3835400" cy="1016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CDA404-4A62-BB6E-4B67-E5FDB02D2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964" y="5426412"/>
            <a:ext cx="3886200" cy="101600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2213C4B-9534-71CC-0668-C03A956BD13A}"/>
              </a:ext>
            </a:extLst>
          </p:cNvPr>
          <p:cNvSpPr/>
          <p:nvPr/>
        </p:nvSpPr>
        <p:spPr>
          <a:xfrm>
            <a:off x="0" y="6568623"/>
            <a:ext cx="12192000" cy="2893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614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591" y="355600"/>
            <a:ext cx="11480513" cy="6146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768350"/>
            <a:ext cx="1071853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ВЫВОДЫ: ЦЕЛЬ ДОСТИГНУТА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6582" y="1485900"/>
            <a:ext cx="1071853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Построена функциональная модель LifePilot в DFD: контекстная диаграмма A-0 и диаграмма A0.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6582" y="2852992"/>
            <a:ext cx="3344184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400" kern="100" spc="-42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1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736582" y="3974009"/>
            <a:ext cx="35727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объект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37954" y="2852992"/>
            <a:ext cx="3115688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400" kern="100" spc="-42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5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4537954" y="3974009"/>
            <a:ext cx="334428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процессов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10831" y="2852992"/>
            <a:ext cx="3344184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400" kern="100" spc="-42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5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8110831" y="3974009"/>
            <a:ext cx="334418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хранилищ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6582" y="4946866"/>
            <a:ext cx="1071853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Основа требований к базе данных PostgreSQL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6582" y="5473799"/>
            <a:ext cx="1071853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Выделены потоки данных. Модель показывает, какие данные система получает, хранит и выдаёт.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03010" y="2768600"/>
            <a:ext cx="12700" cy="1522909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4" name="Shape 12"/>
          <p:cNvSpPr/>
          <p:nvPr/>
        </p:nvSpPr>
        <p:spPr>
          <a:xfrm>
            <a:off x="7875887" y="2768600"/>
            <a:ext cx="12700" cy="1522909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3EADC6D-4F90-5024-D057-33784D6CBDC8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92980-ED79-FCE2-2C6F-92ED73DD9483}"/>
              </a:ext>
            </a:extLst>
          </p:cNvPr>
          <p:cNvSpPr txBox="1"/>
          <p:nvPr/>
        </p:nvSpPr>
        <p:spPr>
          <a:xfrm>
            <a:off x="988542" y="2100648"/>
            <a:ext cx="5906528" cy="281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7200" kern="100" spc="-50" dirty="0">
                <a:solidFill>
                  <a:schemeClr val="bg1">
                    <a:lumMod val="95000"/>
                  </a:schemeClr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СПАСИБО</a:t>
            </a:r>
            <a:endParaRPr lang="en-US" sz="7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73000"/>
              </a:lnSpc>
              <a:buNone/>
            </a:pPr>
            <a:r>
              <a:rPr lang="en-US" sz="7200" kern="100" spc="-50" dirty="0">
                <a:solidFill>
                  <a:schemeClr val="bg1">
                    <a:lumMod val="95000"/>
                  </a:schemeClr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ЗА ВНИМАНИЕ!</a:t>
            </a:r>
            <a:endParaRPr lang="en-US" sz="7200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sz="72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3EFCF-D07E-8CA4-BE41-1F4C9989B244}"/>
              </a:ext>
            </a:extLst>
          </p:cNvPr>
          <p:cNvSpPr txBox="1"/>
          <p:nvPr/>
        </p:nvSpPr>
        <p:spPr>
          <a:xfrm>
            <a:off x="988542" y="1454317"/>
            <a:ext cx="24041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kern="100" spc="20" dirty="0">
                <a:solidFill>
                  <a:schemeClr val="bg1">
                    <a:lumMod val="95000"/>
                  </a:schemeClr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АИС «</a:t>
            </a:r>
            <a:r>
              <a:rPr lang="en-US" sz="2400" kern="100" spc="20" dirty="0" err="1">
                <a:solidFill>
                  <a:schemeClr val="bg1">
                    <a:lumMod val="95000"/>
                  </a:schemeClr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LifePilot</a:t>
            </a:r>
            <a:r>
              <a:rPr lang="en-US" sz="2400" kern="100" spc="20" dirty="0">
                <a:solidFill>
                  <a:schemeClr val="bg1">
                    <a:lumMod val="95000"/>
                  </a:schemeClr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» · DFD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79B191-27CF-90FF-8400-A1264FDC45DD}"/>
              </a:ext>
            </a:extLst>
          </p:cNvPr>
          <p:cNvSpPr/>
          <p:nvPr/>
        </p:nvSpPr>
        <p:spPr>
          <a:xfrm>
            <a:off x="11022227" y="6524368"/>
            <a:ext cx="1169773" cy="33363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7A5C236-25E6-BECE-36AE-062F33A71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560" y="381000"/>
            <a:ext cx="219387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966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1020</Words>
  <Application>Microsoft Macintosh PowerPoint</Application>
  <PresentationFormat>Широкоэкранный</PresentationFormat>
  <Paragraphs>103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Sofia Sans Extra Condensed Black</vt:lpstr>
      <vt:lpstr>Noto Sans Bold</vt:lpstr>
      <vt:lpstr>Arial</vt:lpstr>
      <vt:lpstr>Noto Sans</vt:lpstr>
      <vt:lpstr>Calibri</vt:lpstr>
      <vt:lpstr>Noto Sans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Ирина</cp:lastModifiedBy>
  <cp:revision>4</cp:revision>
  <dcterms:created xsi:type="dcterms:W3CDTF">2026-10-08T10:41:23Z</dcterms:created>
  <dcterms:modified xsi:type="dcterms:W3CDTF">2026-10-08T11:41:50Z</dcterms:modified>
</cp:coreProperties>
</file>